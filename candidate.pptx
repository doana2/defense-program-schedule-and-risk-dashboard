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72854a891494d" /><Relationship Type="http://schemas.openxmlformats.org/officeDocument/2006/relationships/extended-properties" Target="/docProps/app.xml" Id="Rb13a78fa151b4d52" /><Relationship Type="http://schemas.openxmlformats.org/officeDocument/2006/relationships/officeDocument" Target="/ppt/presentation.xml" Id="R4d447b4c241a4e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88a6227b73445c"/>
  </p:sldMasterIdLst>
  <p:notesMasterIdLst>
    <p:notesMasterId xmlns:r="http://schemas.openxmlformats.org/officeDocument/2006/relationships" r:id="Rf3c02a71469047aa"/>
  </p:notesMasterIdLst>
  <p:sldIdLst>
    <p:sldId xmlns:r="http://schemas.openxmlformats.org/officeDocument/2006/relationships" id="256" r:id="R17b7ca63e16c4706"/>
    <p:sldId xmlns:r="http://schemas.openxmlformats.org/officeDocument/2006/relationships" id="257" r:id="R690568e4d317422c"/>
    <p:sldId xmlns:r="http://schemas.openxmlformats.org/officeDocument/2006/relationships" id="258" r:id="Rf0bfc5cd3067441a"/>
    <p:sldId xmlns:r="http://schemas.openxmlformats.org/officeDocument/2006/relationships" id="259" r:id="R55317251ad0c40f6"/>
    <p:sldId xmlns:r="http://schemas.openxmlformats.org/officeDocument/2006/relationships" id="260" r:id="Rbcc6507c3afe46a8"/>
    <p:sldId xmlns:r="http://schemas.openxmlformats.org/officeDocument/2006/relationships" id="261" r:id="R2edccd5f07b34020"/>
    <p:sldId xmlns:r="http://schemas.openxmlformats.org/officeDocument/2006/relationships" id="262" r:id="R57c7e2e6e5d44d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f638f579134938" /><Relationship Type="http://schemas.openxmlformats.org/officeDocument/2006/relationships/slideMaster" Target="/ppt/slideMasters/slideMaster1.xml" Id="R5f88a6227b73445c" /><Relationship Type="http://schemas.openxmlformats.org/officeDocument/2006/relationships/notesMaster" Target="/ppt/notesMasters/notesMaster1.xml" Id="Rf3c02a71469047aa" /><Relationship Type="http://schemas.openxmlformats.org/officeDocument/2006/relationships/presProps" Target="/ppt/presProps.xml" Id="Rae966a8c64fd42f7" /><Relationship Type="http://schemas.openxmlformats.org/officeDocument/2006/relationships/tableStyles" Target="/ppt/tableStyles.xml" Id="Rfdcda2837702435a" /><Relationship Type="http://schemas.openxmlformats.org/officeDocument/2006/relationships/slide" Target="/ppt/slides/slide1.xml" Id="R17b7ca63e16c4706" /><Relationship Type="http://schemas.openxmlformats.org/officeDocument/2006/relationships/slide" Target="/ppt/slides/slide2.xml" Id="R690568e4d317422c" /><Relationship Type="http://schemas.openxmlformats.org/officeDocument/2006/relationships/slide" Target="/ppt/slides/slide3.xml" Id="Rf0bfc5cd3067441a" /><Relationship Type="http://schemas.openxmlformats.org/officeDocument/2006/relationships/slide" Target="/ppt/slides/slide4.xml" Id="R55317251ad0c40f6" /><Relationship Type="http://schemas.openxmlformats.org/officeDocument/2006/relationships/slide" Target="/ppt/slides/slide5.xml" Id="Rbcc6507c3afe46a8" /><Relationship Type="http://schemas.openxmlformats.org/officeDocument/2006/relationships/slide" Target="/ppt/slides/slide6.xml" Id="R2edccd5f07b34020" /><Relationship Type="http://schemas.openxmlformats.org/officeDocument/2006/relationships/slide" Target="/ppt/slides/slide7.xml" Id="R57c7e2e6e5d44d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de51d64d1844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ce52f1ad0b4397" /><Relationship Type="http://schemas.openxmlformats.org/officeDocument/2006/relationships/notesMaster" Target="/ppt/notesMasters/notesMaster1.xml" Id="Rd2b3135f6607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9cfebcdb6849ee" /><Relationship Type="http://schemas.openxmlformats.org/officeDocument/2006/relationships/notesMaster" Target="/ppt/notesMasters/notesMaster1.xml" Id="Rfc9479f3549d44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a4c11fe2b348dd" /><Relationship Type="http://schemas.openxmlformats.org/officeDocument/2006/relationships/notesMaster" Target="/ppt/notesMasters/notesMaster1.xml" Id="Rc8da75f3876a41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9266fac73f4361" /><Relationship Type="http://schemas.openxmlformats.org/officeDocument/2006/relationships/notesMaster" Target="/ppt/notesMasters/notesMaster1.xml" Id="Re6238913a6e64a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02ee09b6e846e0" /><Relationship Type="http://schemas.openxmlformats.org/officeDocument/2006/relationships/notesMaster" Target="/ppt/notesMasters/notesMaster1.xml" Id="Rf0efe0eae6d94b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857bcec7724fbe" /><Relationship Type="http://schemas.openxmlformats.org/officeDocument/2006/relationships/notesMaster" Target="/ppt/notesMasters/notesMaster1.xml" Id="R3525b2dbd6e445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ed27de3a0f454f" /><Relationship Type="http://schemas.openxmlformats.org/officeDocument/2006/relationships/notesMaster" Target="/ppt/notesMasters/notesMaster1.xml" Id="R967c031ebf43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program facts are synthetic. Source: outputs/summary.json and report_data.json. Method: https://www.gao.gov/products/gao-16-89g. No resource leveling.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program facts are synthetic. Source: outputs/summary.json and report_data.json. Method: https://www.gao.gov/products/gao-16-89g. No resource leveling.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program facts are synthetic. Source: outputs/summary.json and report_data.json. Method: https://www.gao.gov/products/gao-16-89g. No resource leveling.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program facts are synthetic. Source: outputs/summary.json and report_data.json. Method: https://www.gao.gov/products/gao-16-89g. No resource leveling.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program facts are synthetic. Source: outputs/summary.json and report_data.json. Method: https://www.gao.gov/products/gao-16-89g. No resource leveling.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program facts are synthetic. Source: outputs/summary.json and report_data.json. Method: https://www.gao.gov/products/gao-16-89g. No resource leveling.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program facts are synthetic. Source: outputs/summary.json and report_data.json. Method: https://www.gao.gov/products/gao-16-89g. No resource leveling.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3abb40a7a46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25de6f9cd4d70" /><Relationship Type="http://schemas.openxmlformats.org/officeDocument/2006/relationships/slideLayout" Target="/ppt/slideLayouts/slideLayout1.xml" Id="Rc6506cedf58840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506cedf58840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bbb1f0ead4d21" /><Relationship Type="http://schemas.openxmlformats.org/officeDocument/2006/relationships/notesSlide" Target="/ppt/notesSlides/notesSlide1.xml" Id="R5b6c4d2d50f748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33deba39a47d7" /><Relationship Type="http://schemas.openxmlformats.org/officeDocument/2006/relationships/chart" Target="/ppt/slides/charts/chart1.xml" Id="Ra567e1647efc4102" /><Relationship Type="http://schemas.openxmlformats.org/officeDocument/2006/relationships/notesSlide" Target="/ppt/notesSlides/notesSlide2.xml" Id="Rebb1620b83c048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baf90370947fc" /><Relationship Type="http://schemas.openxmlformats.org/officeDocument/2006/relationships/notesSlide" Target="/ppt/notesSlides/notesSlide3.xml" Id="R6690859a93c143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4250e12c84dd6" /><Relationship Type="http://schemas.openxmlformats.org/officeDocument/2006/relationships/chart" Target="/ppt/slides/charts/chart2.xml" Id="R36c7ce98ba00483a" /><Relationship Type="http://schemas.openxmlformats.org/officeDocument/2006/relationships/notesSlide" Target="/ppt/notesSlides/notesSlide4.xml" Id="Ref426f9619f2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45a967b074cfe" /><Relationship Type="http://schemas.openxmlformats.org/officeDocument/2006/relationships/notesSlide" Target="/ppt/notesSlides/notesSlide5.xml" Id="R94b268455f6642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a2dc1525a4c0e" /><Relationship Type="http://schemas.openxmlformats.org/officeDocument/2006/relationships/notesSlide" Target="/ppt/notesSlides/notesSlide6.xml" Id="Ra9d4f472a0134b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f8945e3dd4fa5" /><Relationship Type="http://schemas.openxmlformats.org/officeDocument/2006/relationships/notesSlide" Target="/ppt/notesSlides/notesSlide7.xml" Id="Rbdcc4f9ee2684c9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Maximum task finish slip (workdays)</c:v>
          </c:tx>
          <c:spPr>
            <a:solidFill xmlns:a="http://schemas.openxmlformats.org/drawingml/2006/main">
              <a:srgbClr val="3765A0"/>
            </a:solidFill>
          </c:spPr>
          <c:cat>
            <c:strRef>
              <c:f>'Chart Data'!$A$2:$A$6</c:f>
              <c:strCache>
                <c:ptCount val="5"/>
                <c:pt idx="0">
                  <c:v>Engineering</c:v>
                </c:pt>
                <c:pt idx="1">
                  <c:v>Software</c:v>
                </c:pt>
                <c:pt idx="2">
                  <c:v>Logistics</c:v>
                </c:pt>
                <c:pt idx="3">
                  <c:v>Testing</c:v>
                </c:pt>
                <c:pt idx="4">
                  <c:v>Delivery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</c:v>
                </c:pt>
                <c:pt idx="1">
                  <c:v>24</c:v>
                </c:pt>
                <c:pt idx="2">
                  <c:v>32</c:v>
                </c:pt>
                <c:pt idx="3">
                  <c:v>18</c:v>
                </c:pt>
                <c:pt idx="4">
                  <c:v>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Peak demand FTE</c:v>
          </c:tx>
          <c:spPr>
            <a:solidFill xmlns:a="http://schemas.openxmlformats.org/drawingml/2006/main">
              <a:srgbClr val="3765A0"/>
            </a:solidFill>
          </c:spPr>
          <c:cat>
            <c:strRef>
              <c:f>'Chart Data'!$A$2:$A$7</c:f>
              <c:strCache>
                <c:ptCount val="6"/>
                <c:pt idx="0">
                  <c:v>Design engineering</c:v>
                </c:pt>
                <c:pt idx="1">
                  <c:v>Software</c:v>
                </c:pt>
                <c:pt idx="2">
                  <c:v>Logistics</c:v>
                </c:pt>
                <c:pt idx="3">
                  <c:v>Test</c:v>
                </c:pt>
                <c:pt idx="4">
                  <c:v>Delivery</c:v>
                </c:pt>
                <c:pt idx="5">
                  <c:v>Quality review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</c:v>
                </c:pt>
                <c:pt idx="1">
                  <c:v>3</c:v>
                </c:pt>
                <c:pt idx="2">
                  <c:v>1</c:v>
                </c:pt>
                <c:pt idx="3">
                  <c:v>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v>Capacity FTE</c:v>
          </c:tx>
          <c:spPr>
            <a:solidFill xmlns:a="http://schemas.openxmlformats.org/drawingml/2006/main">
              <a:srgbClr val="B7C6D6"/>
            </a:solidFill>
          </c:spPr>
          <c:cat>
            <c:strRef>
              <c:f>'Chart Data'!$C$2:$C$7</c:f>
              <c:strCache>
                <c:ptCount val="6"/>
                <c:pt idx="0">
                  <c:v>Design engineering</c:v>
                </c:pt>
                <c:pt idx="1">
                  <c:v>Software</c:v>
                </c:pt>
                <c:pt idx="2">
                  <c:v>Logistics</c:v>
                </c:pt>
                <c:pt idx="3">
                  <c:v>Test</c:v>
                </c:pt>
                <c:pt idx="4">
                  <c:v>Delivery</c:v>
                </c:pt>
                <c:pt idx="5">
                  <c:v>Quality review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1.5</c:v>
                </c:pt>
                <c:pt idx="1">
                  <c:v>1.5</c:v>
                </c:pt>
                <c:pt idx="2">
                  <c:v>2</c:v>
                </c:pt>
                <c:pt idx="3">
                  <c:v>1.5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Bitstream Charter"/>
              <a:ea typeface="Bitstream Charter"/>
              <a:cs typeface="Bitstream Charter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D4950-D45C-491D-B08A-DF0677FA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MERIDIAN M-27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C2E6-95E4-4FF8-A114-F5F30EA1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Fictional, unclassified portfolio demonstration. Status: 2026-09-18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2BF9E-F1E3-4521-B6D0-0858C90A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Program Management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6F74D-1743-48AF-AADE-0DF90E2F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Current acceptance: 2027-09-21</a:t>
            </a:r>
          </a:p>
          <a:p xmlns:a="http://schemas.openxmlformats.org/drawingml/2006/main">
            <a:pPr>
              <a:defRPr sz="27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P80 completion: 2027-10-14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E9B0D-3312-48FB-9361-21FC593E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152 leaf activities and milestones</a:t>
            </a:r>
          </a:p>
          <a:p xmlns:a="http://schemas.openxmlformats.org/drawingml/2006/main">
            <a:pPr>
              <a:defRPr sz="195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224 dependency links</a:t>
            </a:r>
          </a:p>
        </p:txBody>
      </p:sp>
    </p:spTree>
    <p:extLst>
      <p:ext uri="{BB962C8B-B14F-4D97-AF65-F5344CB8AC3E}">
        <p14:creationId xmlns:p14="http://schemas.microsoft.com/office/powerpoint/2010/main" val="1730621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6B82A-D2CC-4682-95AF-D21C518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Acceptance forecast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6DEB3-9BAA-4519-8B4D-BF19C51C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Fictional, unclassified portfolio demonstration. Status: 2026-09-18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C700E-7BCC-4EC0-A683-0DA3EF27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The current forecast is 18 workdays after the approved baseline.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81050" y="2095500"/>
          <a:ext xmlns:a="http://schemas.openxmlformats.org/drawingml/2006/main" cx="10477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67e1647efc410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1550E-BF41-4683-B761-47A9F86B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Baseline: 2027-08-26     Current: 2027-09-21</a:t>
            </a:r>
          </a:p>
        </p:txBody>
      </p:sp>
    </p:spTree>
    <p:extLst>
      <p:ext uri="{BB962C8B-B14F-4D97-AF65-F5344CB8AC3E}">
        <p14:creationId xmlns:p14="http://schemas.microsoft.com/office/powerpoint/2010/main" val="1781681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022AF-7BD4-459C-9193-F9D4B13B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Schedule-health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D33D7-579B-4F3C-A277-1CB4039A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Fictional, unclassified portfolio demonstration. Status: 2026-09-18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3659F-D586-467C-B44F-DF304206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646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B64640"/>
                </a:solidFill>
                <a:latin typeface="Bitstream Charter"/>
                <a:ea typeface="Bitstream Charter"/>
                <a:cs typeface="Bitstream Charter"/>
              </a:rPr>
              <a:t>6 of 14 indicators require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9BFFC-5787-4C42-82B7-C205DEE4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3. Lags: 12.8%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4. Finish-to-start relationships: 74.4%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6. High float: 5.2%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7. Negative float: 87.9%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11. Missed baseline tasks: 16.9%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13. Critical path length index: 0.931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80527-0BC6-462F-BE6F-694BC22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Mixed SS and FF relationships require justification.</a:t>
            </a:r>
          </a:p>
          <a:p xmlns:a="http://schemas.openxmlformats.org/drawingml/2006/main">
            <a:pPr>
              <a:defRPr sz="18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Screening thresholds are diagnostic, not DCMA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800347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A700B-24E0-4E1E-BFB0-A923E21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Resource 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6C0B7-A41B-4B3E-B360-E981E76A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Fictional, unclassified portfolio demonstration. Status: 2026-09-18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04850" y="149542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c7ce98ba00483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5B563-1CCD-44CF-B1A2-71D33BB7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162 overloaded resource-days. The current forecast remains unlevelled.</a:t>
            </a:r>
          </a:p>
        </p:txBody>
      </p:sp>
    </p:spTree>
    <p:extLst>
      <p:ext uri="{BB962C8B-B14F-4D97-AF65-F5344CB8AC3E}">
        <p14:creationId xmlns:p14="http://schemas.microsoft.com/office/powerpoint/2010/main" val="1706379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9C333-BD14-448C-8322-3DD6CD1B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Completion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5E358-6EE0-47C6-BCE7-426535F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Fictional, unclassified portfolio demonstration. Status: 2026-09-18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0EFA8-2998-4FC8-9288-69595926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52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P50   2027-10-08</a:t>
            </a:r>
          </a:p>
          <a:p xmlns:a="http://schemas.openxmlformats.org/drawingml/2006/main">
            <a:pPr>
              <a:defRPr sz="33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P80   2027-10-14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09DAB-CE2D-4BE3-A9FA-8C90F69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525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5,000 seeded trials</a:t>
            </a:r>
          </a:p>
          <a:p xmlns:a="http://schemas.openxmlformats.org/drawingml/2006/main">
            <a:pPr>
              <a:def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0.0% finish by the baseline 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80480-FDE3-40FB-AB8D-A6DF8544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Triangular remaining-duration estimates</a:t>
            </a:r>
          </a:p>
          <a:p xmlns:a="http://schemas.openxmlformats.org/drawingml/2006/main">
            <a:pPr>
              <a:defRPr sz="217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Discrete risk occurrence and conditional delay</a:t>
            </a:r>
          </a:p>
          <a:p xmlns:a="http://schemas.openxmlformats.org/drawingml/2006/main">
            <a:pPr>
              <a:defRPr sz="217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Actual progress held fixed in every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88997-64EB-4D7A-BEA9-E8AC35BA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P80 reflects the modeled assumptions. It excludes resource leveling,</a:t>
            </a:r>
          </a:p>
          <a:p xmlns:a="http://schemas.openxmlformats.org/drawingml/2006/main">
            <a:pPr>
              <a:defRPr sz="18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holidays and general correlation between duration estimates.</a:t>
            </a:r>
          </a:p>
        </p:txBody>
      </p:sp>
    </p:spTree>
    <p:extLst>
      <p:ext uri="{BB962C8B-B14F-4D97-AF65-F5344CB8AC3E}">
        <p14:creationId xmlns:p14="http://schemas.microsoft.com/office/powerpoint/2010/main" val="16760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D623E-7F92-4AC8-B79E-4ED7D084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Change control and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CB7E4-9AFB-4DC3-A685-D7CC5D01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Fictional, unclassified portfolio demonstration. Status: 2026-09-18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A807B-7E51-4353-B515-8655C923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858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CR-001  Approved and applied to current forecast</a:t>
            </a:r>
          </a:p>
          <a:p xmlns:a="http://schemas.openxmlformats.org/drawingml/2006/main">
            <a:pPr>
              <a:def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CR-002  Pending; no forecast change applied</a:t>
            </a:r>
          </a:p>
          <a:p xmlns:a="http://schemas.openxmlformats.org/drawingml/2006/main">
            <a:pPr>
              <a:def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CR-003  Rejected; acceptance baseline unchanged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F9E49-E4F9-451E-B597-421F30C8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Decisions requested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F35AC-5D9F-40A7-90C4-30F38884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Resolve CR-002 before authorizing added scope.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Confirm reviewers and test-team coverage.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Develop a resource-leveled recovery scenario.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Retain the original baseline until a formal rebaseline decision.</a:t>
            </a:r>
          </a:p>
        </p:txBody>
      </p:sp>
    </p:spTree>
    <p:extLst>
      <p:ext uri="{BB962C8B-B14F-4D97-AF65-F5344CB8AC3E}">
        <p14:creationId xmlns:p14="http://schemas.microsoft.com/office/powerpoint/2010/main" val="4541552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453DD-8D65-4076-B7E0-15F04951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Model scope and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80F2D-7304-4FCF-AC85-2B46E629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77A8C"/>
                </a:solidFill>
                <a:latin typeface="Bitstream Charter"/>
                <a:ea typeface="Bitstream Charter"/>
                <a:cs typeface="Bitstream Charter"/>
              </a:rPr>
              <a:t>Fictional, unclassified portfolio demonstration. Status: 2026-09-18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AB29B-6E12-4EA9-950A-AE2FB980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Verified in the portable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E5BCA-42C7-4E73-938B-DEC05BD4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FS, SS, FF and SF dependency calculations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Baseline variance and separate deadline/network float</a:t>
            </a:r>
          </a:p>
          <a:p xmlns:a="http://schemas.openxmlformats.org/drawingml/2006/main">
            <a:pPr>
              <a:def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Repeatable risk simulation and input diagnostics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1D707-C3D1-4FB0-BC84-4E6F4141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A40"/>
                </a:solidFill>
                <a:latin typeface="Bitstream Charter"/>
                <a:ea typeface="Bitstream Charter"/>
                <a:cs typeface="Bitstream Charter"/>
              </a:rPr>
              <a:t>Desktop acceptance checks remain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8BB1F-9B92-462A-870A-77F40DA9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76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Open Microsoft Project XML and compare dates after recalculation.</a:t>
            </a:r>
          </a:p>
          <a:p xmlns:a="http://schemas.openxmlformats.org/drawingml/2006/main">
            <a:pPr>
              <a:defRPr sz="195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Open the native Tableau workbook and verify its CSV connections.</a:t>
            </a:r>
          </a:p>
          <a:p xmlns:a="http://schemas.openxmlformats.org/drawingml/2006/main">
            <a:pPr>
              <a:defRPr sz="195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4384B"/>
                </a:solidFill>
                <a:latin typeface="Bitstream Charter"/>
                <a:ea typeface="Bitstream Charter"/>
                <a:cs typeface="Bitstream Charter"/>
              </a:rPr>
              <a:t>Review Office files in the intended desktop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106410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2026-09-20T12:47:50.0620000Z</dcterms:created>
  <dcterms:modified xsi:type="dcterms:W3CDTF">2026-09-20T12:47:50.0620000Z</dcterms:modified>
</coreProperties>
</file>